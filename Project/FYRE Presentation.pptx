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Figtree"/>
      <p:regular r:id="rId30"/>
      <p:bold r:id="rId31"/>
      <p:italic r:id="rId32"/>
      <p:boldItalic r:id="rId33"/>
    </p:embeddedFont>
    <p:embeddedFont>
      <p:font typeface="Jost Light"/>
      <p:regular r:id="rId34"/>
      <p:bold r:id="rId35"/>
      <p:italic r:id="rId36"/>
      <p:boldItalic r:id="rId37"/>
    </p:embeddedFont>
    <p:embeddedFont>
      <p:font typeface="Figtree Medium"/>
      <p:regular r:id="rId38"/>
      <p:bold r:id="rId39"/>
      <p:italic r:id="rId40"/>
      <p:boldItalic r:id="rId41"/>
    </p:embeddedFont>
    <p:embeddedFont>
      <p:font typeface="Figtree Light"/>
      <p:regular r:id="rId42"/>
      <p:bold r:id="rId43"/>
      <p:italic r:id="rId44"/>
      <p:boldItalic r:id="rId45"/>
    </p:embeddedFont>
    <p:embeddedFont>
      <p:font typeface="Jost"/>
      <p:regular r:id="rId46"/>
      <p:bold r:id="rId47"/>
      <p:italic r:id="rId48"/>
      <p:boldItalic r:id="rId49"/>
    </p:embeddedFont>
    <p:embeddedFont>
      <p:font typeface="Figtree SemiBold"/>
      <p:regular r:id="rId50"/>
      <p:bold r:id="rId51"/>
      <p:italic r:id="rId52"/>
      <p:boldItalic r:id="rId53"/>
    </p:embeddedFont>
    <p:embeddedFont>
      <p:font typeface="Jost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Medium-italic.fntdata"/><Relationship Id="rId42" Type="http://schemas.openxmlformats.org/officeDocument/2006/relationships/font" Target="fonts/FigtreeLight-regular.fntdata"/><Relationship Id="rId41" Type="http://schemas.openxmlformats.org/officeDocument/2006/relationships/font" Target="fonts/FigtreeMedium-boldItalic.fntdata"/><Relationship Id="rId44" Type="http://schemas.openxmlformats.org/officeDocument/2006/relationships/font" Target="fonts/FigtreeLight-italic.fntdata"/><Relationship Id="rId43" Type="http://schemas.openxmlformats.org/officeDocument/2006/relationships/font" Target="fonts/FigtreeLight-bold.fntdata"/><Relationship Id="rId46" Type="http://schemas.openxmlformats.org/officeDocument/2006/relationships/font" Target="fonts/Jost-regular.fntdata"/><Relationship Id="rId45" Type="http://schemas.openxmlformats.org/officeDocument/2006/relationships/font" Target="fonts/Figtree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Jost-italic.fntdata"/><Relationship Id="rId47" Type="http://schemas.openxmlformats.org/officeDocument/2006/relationships/font" Target="fonts/Jost-bold.fntdata"/><Relationship Id="rId49" Type="http://schemas.openxmlformats.org/officeDocument/2006/relationships/font" Target="fonts/Jo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-bold.fntdata"/><Relationship Id="rId30" Type="http://schemas.openxmlformats.org/officeDocument/2006/relationships/font" Target="fonts/Figtree-regular.fntdata"/><Relationship Id="rId33" Type="http://schemas.openxmlformats.org/officeDocument/2006/relationships/font" Target="fonts/Figtree-boldItalic.fntdata"/><Relationship Id="rId32" Type="http://schemas.openxmlformats.org/officeDocument/2006/relationships/font" Target="fonts/Figtree-italic.fntdata"/><Relationship Id="rId35" Type="http://schemas.openxmlformats.org/officeDocument/2006/relationships/font" Target="fonts/JostLight-bold.fntdata"/><Relationship Id="rId34" Type="http://schemas.openxmlformats.org/officeDocument/2006/relationships/font" Target="fonts/JostLight-regular.fntdata"/><Relationship Id="rId37" Type="http://schemas.openxmlformats.org/officeDocument/2006/relationships/font" Target="fonts/JostLight-boldItalic.fntdata"/><Relationship Id="rId36" Type="http://schemas.openxmlformats.org/officeDocument/2006/relationships/font" Target="fonts/JostLight-italic.fntdata"/><Relationship Id="rId39" Type="http://schemas.openxmlformats.org/officeDocument/2006/relationships/font" Target="fonts/FigtreeMedium-bold.fntdata"/><Relationship Id="rId38" Type="http://schemas.openxmlformats.org/officeDocument/2006/relationships/font" Target="fonts/FigtreeMedium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gtreeSemiBold-bold.fntdata"/><Relationship Id="rId50" Type="http://schemas.openxmlformats.org/officeDocument/2006/relationships/font" Target="fonts/FigtreeSemiBold-regular.fntdata"/><Relationship Id="rId53" Type="http://schemas.openxmlformats.org/officeDocument/2006/relationships/font" Target="fonts/FigtreeSemiBold-boldItalic.fntdata"/><Relationship Id="rId52" Type="http://schemas.openxmlformats.org/officeDocument/2006/relationships/font" Target="fonts/FigtreeSemiBold-italic.fntdata"/><Relationship Id="rId11" Type="http://schemas.openxmlformats.org/officeDocument/2006/relationships/slide" Target="slides/slide6.xml"/><Relationship Id="rId55" Type="http://schemas.openxmlformats.org/officeDocument/2006/relationships/font" Target="fonts/JostSemiBold-bold.fntdata"/><Relationship Id="rId10" Type="http://schemas.openxmlformats.org/officeDocument/2006/relationships/slide" Target="slides/slide5.xml"/><Relationship Id="rId54" Type="http://schemas.openxmlformats.org/officeDocument/2006/relationships/font" Target="fonts/JostSemiBold-regular.fntdata"/><Relationship Id="rId13" Type="http://schemas.openxmlformats.org/officeDocument/2006/relationships/slide" Target="slides/slide8.xml"/><Relationship Id="rId57" Type="http://schemas.openxmlformats.org/officeDocument/2006/relationships/font" Target="fonts/JostSemiBold-boldItalic.fntdata"/><Relationship Id="rId12" Type="http://schemas.openxmlformats.org/officeDocument/2006/relationships/slide" Target="slides/slide7.xml"/><Relationship Id="rId56" Type="http://schemas.openxmlformats.org/officeDocument/2006/relationships/font" Target="fonts/Jost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6aee0fdb2a002b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h6aee0fdb2a002b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1039f2e722245160_1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h1039f2e722245160_1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1039f2e722245160_1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h1039f2e722245160_1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1039f2e722245160_23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h1039f2e722245160_23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1039f2e722245160_23_2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h1039f2e722245160_23_2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1039f2e722245160_23_4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1039f2e722245160_23_4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1039f2e722245160_23_4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h1039f2e722245160_23_4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6aee0fdb2a002b5d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h6aee0fdb2a002b5d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h6aee0fdb2a002b5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h6aee0fdb2a002b5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1039f2e722245160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h1039f2e722245160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1039f2e722245160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h1039f2e722245160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1039f2e722245160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h1039f2e722245160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h1039f2e722245160_23_7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h1039f2e722245160_23_7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h25562f1393ca2985_2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h25562f1393ca2985_2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h25562f1393ca2985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h25562f1393ca2985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h6aee0fdb2a002b5d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h6aee0fdb2a002b5d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h1039f2e722245160_23_9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h1039f2e722245160_23_9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h1901dd154d55311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h1901dd154d5531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h1901dd154d55311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h1901dd154d55311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h1901dd154d55311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h1901dd154d55311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h1901dd154d55311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h1901dd154d55311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h1901dd154d55311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h1901dd154d55311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h25562f1393ca2985_2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h25562f1393ca2985_2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h25562f1393ca2985_2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h25562f1393ca2985_2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 1">
  <p:cSld name="Statement - Alt 1 (h1039f2e722245160_37_0)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6" name="Google Shape;436;p48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7" name="Google Shape;437;p48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 1">
  <p:cSld name="Roadmap - Alt 2 (h7012bcc210632518_21_0)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440" name="Google Shape;440;p4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42" name="Google Shape;442;p49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3" name="Google Shape;443;p49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4" name="Google Shape;444;p49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5" name="Google Shape;445;p49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6" name="Google Shape;446;p49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7" name="Google Shape;447;p49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13.jpg"/><Relationship Id="rId6" Type="http://schemas.openxmlformats.org/officeDocument/2006/relationships/image" Target="../media/image9.jpg"/><Relationship Id="rId7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Relationship Id="rId6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rive.google.com/file/d/1drH4CXO5rVTQBRNxPN51NFePeV4d2wfm/view" TargetMode="External"/><Relationship Id="rId4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"/>
          <p:cNvSpPr txBox="1"/>
          <p:nvPr>
            <p:ph idx="3" type="title"/>
          </p:nvPr>
        </p:nvSpPr>
        <p:spPr>
          <a:xfrm>
            <a:off x="171850" y="457200"/>
            <a:ext cx="85863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FYRE segment 1 project: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Auto-</a:t>
            </a:r>
            <a:r>
              <a:rPr lang="en" sz="5600"/>
              <a:t>Wiper and 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Headlight System</a:t>
            </a:r>
            <a:endParaRPr sz="5600"/>
          </a:p>
        </p:txBody>
      </p:sp>
      <p:sp>
        <p:nvSpPr>
          <p:cNvPr id="453" name="Google Shape;453;p50"/>
          <p:cNvSpPr txBox="1"/>
          <p:nvPr>
            <p:ph idx="2" type="subTitle"/>
          </p:nvPr>
        </p:nvSpPr>
        <p:spPr>
          <a:xfrm>
            <a:off x="248100" y="4727525"/>
            <a:ext cx="27120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By Carter and Gwen</a:t>
            </a:r>
            <a:endParaRPr sz="1700"/>
          </a:p>
        </p:txBody>
      </p:sp>
      <p:pic>
        <p:nvPicPr>
          <p:cNvPr id="454" name="Google Shape;454;p50" title="IMG_3576.jpeg"/>
          <p:cNvPicPr preferRelativeResize="0"/>
          <p:nvPr/>
        </p:nvPicPr>
        <p:blipFill rotWithShape="1">
          <a:blip r:embed="rId3">
            <a:alphaModFix/>
          </a:blip>
          <a:srcRect b="21840" l="14534" r="14534" t="7228"/>
          <a:stretch/>
        </p:blipFill>
        <p:spPr>
          <a:xfrm>
            <a:off x="6077649" y="1205438"/>
            <a:ext cx="2837748" cy="3783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/>
          <p:nvPr/>
        </p:nvSpPr>
        <p:spPr>
          <a:xfrm>
            <a:off x="1625699" y="1536975"/>
            <a:ext cx="5986500" cy="18957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0" name="Google Shape;460;p51"/>
          <p:cNvSpPr txBox="1"/>
          <p:nvPr>
            <p:ph idx="1" type="subTitle"/>
          </p:nvPr>
        </p:nvSpPr>
        <p:spPr>
          <a:xfrm>
            <a:off x="2484400" y="1790025"/>
            <a:ext cx="4385400" cy="13896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3635"/>
              <a:t>Intro and Project Overview</a:t>
            </a:r>
            <a:endParaRPr sz="363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>
            <p:ph idx="3" type="title"/>
          </p:nvPr>
        </p:nvSpPr>
        <p:spPr>
          <a:xfrm>
            <a:off x="96425" y="192600"/>
            <a:ext cx="94074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5F79"/>
                </a:solidFill>
              </a:rPr>
              <a:t>Goal:</a:t>
            </a:r>
            <a:r>
              <a:rPr lang="en" sz="3400"/>
              <a:t> </a:t>
            </a:r>
            <a:r>
              <a:rPr lang="en" sz="2700"/>
              <a:t>Make a prototype of an automatic headlight and windshield wiper </a:t>
            </a:r>
            <a:r>
              <a:rPr lang="en" sz="2700"/>
              <a:t>system</a:t>
            </a:r>
            <a:r>
              <a:rPr lang="en" sz="2700"/>
              <a:t> for a car </a:t>
            </a:r>
            <a:endParaRPr sz="2700"/>
          </a:p>
        </p:txBody>
      </p:sp>
      <p:grpSp>
        <p:nvGrpSpPr>
          <p:cNvPr id="466" name="Google Shape;466;p52"/>
          <p:cNvGrpSpPr/>
          <p:nvPr/>
        </p:nvGrpSpPr>
        <p:grpSpPr>
          <a:xfrm>
            <a:off x="628475" y="1350000"/>
            <a:ext cx="3837600" cy="2443500"/>
            <a:chOff x="1345950" y="1273825"/>
            <a:chExt cx="3837600" cy="2443500"/>
          </a:xfrm>
        </p:grpSpPr>
        <p:sp>
          <p:nvSpPr>
            <p:cNvPr id="467" name="Google Shape;467;p52"/>
            <p:cNvSpPr/>
            <p:nvPr/>
          </p:nvSpPr>
          <p:spPr>
            <a:xfrm>
              <a:off x="1345950" y="1273825"/>
              <a:ext cx="3837600" cy="2443500"/>
            </a:xfrm>
            <a:prstGeom prst="roundRect">
              <a:avLst>
                <a:gd fmla="val 3071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28588" rotWithShape="0" algn="bl">
                <a:schemeClr val="lt2">
                  <a:alpha val="58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endParaRPr>
            </a:p>
          </p:txBody>
        </p:sp>
        <p:pic>
          <p:nvPicPr>
            <p:cNvPr id="468" name="Google Shape;468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51063" y="1538175"/>
              <a:ext cx="3427374" cy="1914800"/>
            </a:xfrm>
            <a:prstGeom prst="rect">
              <a:avLst/>
            </a:prstGeom>
            <a:noFill/>
            <a:ln>
              <a:noFill/>
            </a:ln>
            <a:effectLst>
              <a:outerShdw blurRad="128588" rotWithShape="0" algn="bl">
                <a:schemeClr val="lt2">
                  <a:alpha val="58000"/>
                </a:schemeClr>
              </a:outerShdw>
            </a:effectLst>
          </p:spPr>
        </p:pic>
      </p:grpSp>
      <p:grpSp>
        <p:nvGrpSpPr>
          <p:cNvPr id="469" name="Google Shape;469;p52"/>
          <p:cNvGrpSpPr/>
          <p:nvPr/>
        </p:nvGrpSpPr>
        <p:grpSpPr>
          <a:xfrm>
            <a:off x="5519150" y="800400"/>
            <a:ext cx="3102900" cy="2443500"/>
            <a:chOff x="4350350" y="2054200"/>
            <a:chExt cx="3102900" cy="2443500"/>
          </a:xfrm>
        </p:grpSpPr>
        <p:sp>
          <p:nvSpPr>
            <p:cNvPr id="470" name="Google Shape;470;p52"/>
            <p:cNvSpPr/>
            <p:nvPr/>
          </p:nvSpPr>
          <p:spPr>
            <a:xfrm>
              <a:off x="4350350" y="2054200"/>
              <a:ext cx="3102900" cy="2443500"/>
            </a:xfrm>
            <a:prstGeom prst="roundRect">
              <a:avLst>
                <a:gd fmla="val 3071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28588" rotWithShape="0" algn="bl">
                <a:schemeClr val="lt2">
                  <a:alpha val="58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endParaRPr>
            </a:p>
          </p:txBody>
        </p:sp>
        <p:pic>
          <p:nvPicPr>
            <p:cNvPr descr="LED Headlights – The Pack" id="471" name="Google Shape;471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25050" y="2302438"/>
              <a:ext cx="2698800" cy="1947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2" name="Google Shape;472;p52"/>
          <p:cNvSpPr txBox="1"/>
          <p:nvPr>
            <p:ph idx="3" type="title"/>
          </p:nvPr>
        </p:nvSpPr>
        <p:spPr>
          <a:xfrm>
            <a:off x="-381000" y="3476000"/>
            <a:ext cx="94074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2"/>
                </a:solidFill>
              </a:rPr>
              <a:t>Purpose</a:t>
            </a:r>
            <a:r>
              <a:rPr lang="en" sz="3400">
                <a:solidFill>
                  <a:schemeClr val="lt2"/>
                </a:solidFill>
              </a:rPr>
              <a:t>:</a:t>
            </a:r>
            <a:r>
              <a:rPr lang="en" sz="3400"/>
              <a:t> </a:t>
            </a:r>
            <a:r>
              <a:rPr lang="en" sz="2700"/>
              <a:t>Enhance</a:t>
            </a:r>
            <a:r>
              <a:rPr lang="en" sz="2700"/>
              <a:t> driver </a:t>
            </a:r>
            <a:endParaRPr sz="2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safety, visibility, and convenience at night and </a:t>
            </a:r>
            <a:endParaRPr sz="2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during storms </a:t>
            </a:r>
            <a:r>
              <a:rPr lang="en" sz="2700"/>
              <a:t>  </a:t>
            </a:r>
            <a:endParaRPr sz="2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8" name="Google Shape;478;p53"/>
          <p:cNvSpPr/>
          <p:nvPr/>
        </p:nvSpPr>
        <p:spPr>
          <a:xfrm>
            <a:off x="4952675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9" name="Google Shape;479;p53"/>
          <p:cNvSpPr txBox="1"/>
          <p:nvPr>
            <p:ph idx="2" type="title"/>
          </p:nvPr>
        </p:nvSpPr>
        <p:spPr>
          <a:xfrm>
            <a:off x="457200" y="45720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INPUTS</a:t>
            </a:r>
            <a:endParaRPr b="1" sz="360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480" name="Google Shape;480;p53"/>
          <p:cNvGrpSpPr/>
          <p:nvPr/>
        </p:nvGrpSpPr>
        <p:grpSpPr>
          <a:xfrm>
            <a:off x="447675" y="1285875"/>
            <a:ext cx="4019700" cy="933600"/>
            <a:chOff x="-9525" y="-9525"/>
            <a:chExt cx="4019700" cy="933600"/>
          </a:xfrm>
        </p:grpSpPr>
        <p:pic>
          <p:nvPicPr>
            <p:cNvPr id="481" name="Google Shape;481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4019700" cy="9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53"/>
            <p:cNvSpPr txBox="1"/>
            <p:nvPr/>
          </p:nvSpPr>
          <p:spPr>
            <a:xfrm>
              <a:off x="190500" y="26949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AB4F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light_mode</a:t>
              </a:r>
              <a:endParaRPr sz="2800">
                <a:solidFill>
                  <a:srgbClr val="AB4F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3" name="Google Shape;483;p53"/>
            <p:cNvSpPr txBox="1"/>
            <p:nvPr/>
          </p:nvSpPr>
          <p:spPr>
            <a:xfrm>
              <a:off x="762000" y="0"/>
              <a:ext cx="3048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FFFFFF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Light </a:t>
              </a:r>
              <a:r>
                <a:rPr lang="en" sz="2000">
                  <a:solidFill>
                    <a:srgbClr val="FFFFFF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Sensor</a:t>
              </a:r>
              <a:endParaRPr b="0" sz="20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grpSp>
        <p:nvGrpSpPr>
          <p:cNvPr id="484" name="Google Shape;484;p53"/>
          <p:cNvGrpSpPr/>
          <p:nvPr/>
        </p:nvGrpSpPr>
        <p:grpSpPr>
          <a:xfrm>
            <a:off x="447675" y="2390775"/>
            <a:ext cx="4019700" cy="933600"/>
            <a:chOff x="-9525" y="-9525"/>
            <a:chExt cx="4019700" cy="933600"/>
          </a:xfrm>
        </p:grpSpPr>
        <p:pic>
          <p:nvPicPr>
            <p:cNvPr id="485" name="Google Shape;485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4019700" cy="9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" name="Google Shape;486;p53"/>
            <p:cNvSpPr txBox="1"/>
            <p:nvPr/>
          </p:nvSpPr>
          <p:spPr>
            <a:xfrm>
              <a:off x="190500" y="26949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FF5F7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water_drop</a:t>
              </a:r>
              <a:endParaRPr sz="2800">
                <a:solidFill>
                  <a:srgbClr val="FF5F7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7" name="Google Shape;487;p53"/>
            <p:cNvSpPr txBox="1"/>
            <p:nvPr/>
          </p:nvSpPr>
          <p:spPr>
            <a:xfrm>
              <a:off x="762000" y="0"/>
              <a:ext cx="3048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FFFFFF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Moisture Sensor</a:t>
              </a:r>
              <a:endParaRPr b="0" sz="20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grpSp>
        <p:nvGrpSpPr>
          <p:cNvPr id="488" name="Google Shape;488;p53"/>
          <p:cNvGrpSpPr/>
          <p:nvPr/>
        </p:nvGrpSpPr>
        <p:grpSpPr>
          <a:xfrm>
            <a:off x="447675" y="3495675"/>
            <a:ext cx="4019700" cy="933600"/>
            <a:chOff x="-9525" y="-9525"/>
            <a:chExt cx="4019700" cy="933600"/>
          </a:xfrm>
        </p:grpSpPr>
        <p:pic>
          <p:nvPicPr>
            <p:cNvPr id="489" name="Google Shape;489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4019700" cy="9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53"/>
            <p:cNvSpPr txBox="1"/>
            <p:nvPr/>
          </p:nvSpPr>
          <p:spPr>
            <a:xfrm>
              <a:off x="190500" y="26949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AB4F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touch_app</a:t>
              </a:r>
              <a:endParaRPr sz="2800">
                <a:solidFill>
                  <a:srgbClr val="AB4F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1" name="Google Shape;491;p53"/>
            <p:cNvSpPr txBox="1"/>
            <p:nvPr/>
          </p:nvSpPr>
          <p:spPr>
            <a:xfrm>
              <a:off x="762000" y="0"/>
              <a:ext cx="3048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FFFFFF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Button</a:t>
              </a:r>
              <a:endParaRPr b="0" sz="20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pic>
        <p:nvPicPr>
          <p:cNvPr descr="Wet, dark, tree-lined road at dusk with streetlights and a car's red taillights in the distance." id="492" name="Google Shape;492;p53"/>
          <p:cNvPicPr preferRelativeResize="0"/>
          <p:nvPr/>
        </p:nvPicPr>
        <p:blipFill rotWithShape="1">
          <a:blip r:embed="rId5">
            <a:alphaModFix/>
          </a:blip>
          <a:srcRect b="4424" l="0" r="0" t="25690"/>
          <a:stretch/>
        </p:blipFill>
        <p:spPr>
          <a:xfrm>
            <a:off x="6414875" y="0"/>
            <a:ext cx="2729125" cy="169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n using navigation system while driving car (Provided by Getty Images)" id="493" name="Google Shape;493;p53"/>
          <p:cNvPicPr preferRelativeResize="0"/>
          <p:nvPr/>
        </p:nvPicPr>
        <p:blipFill rotWithShape="1">
          <a:blip r:embed="rId6">
            <a:alphaModFix/>
          </a:blip>
          <a:srcRect b="0" l="0" r="0" t="9437"/>
          <a:stretch/>
        </p:blipFill>
        <p:spPr>
          <a:xfrm>
            <a:off x="6417900" y="3495675"/>
            <a:ext cx="2723077" cy="1643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 drops on window (Provided by Getty Images)" id="494" name="Google Shape;494;p53"/>
          <p:cNvPicPr preferRelativeResize="0"/>
          <p:nvPr/>
        </p:nvPicPr>
        <p:blipFill rotWithShape="1">
          <a:blip r:embed="rId7">
            <a:alphaModFix/>
          </a:blip>
          <a:srcRect b="59033" l="0" r="0" t="0"/>
          <a:stretch/>
        </p:blipFill>
        <p:spPr>
          <a:xfrm>
            <a:off x="6414875" y="1801500"/>
            <a:ext cx="2723075" cy="1589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4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0" name="Google Shape;500;p54"/>
          <p:cNvSpPr/>
          <p:nvPr/>
        </p:nvSpPr>
        <p:spPr>
          <a:xfrm>
            <a:off x="3263013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1" name="Google Shape;501;p54"/>
          <p:cNvSpPr txBox="1"/>
          <p:nvPr>
            <p:ph idx="2" type="title"/>
          </p:nvPr>
        </p:nvSpPr>
        <p:spPr>
          <a:xfrm>
            <a:off x="5012400" y="1714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OUTPUTS</a:t>
            </a:r>
            <a:endParaRPr b="1" i="0" sz="360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502" name="Google Shape;502;p54"/>
          <p:cNvGrpSpPr/>
          <p:nvPr/>
        </p:nvGrpSpPr>
        <p:grpSpPr>
          <a:xfrm>
            <a:off x="4951050" y="1473300"/>
            <a:ext cx="4019700" cy="933600"/>
            <a:chOff x="3733800" y="-9525"/>
            <a:chExt cx="4019700" cy="933600"/>
          </a:xfrm>
        </p:grpSpPr>
        <p:pic>
          <p:nvPicPr>
            <p:cNvPr id="503" name="Google Shape;503;p54"/>
            <p:cNvPicPr preferRelativeResize="0"/>
            <p:nvPr/>
          </p:nvPicPr>
          <p:blipFill rotWithShape="1">
            <a:blip r:embed="rId3">
              <a:alphaModFix/>
            </a:blip>
            <a:srcRect b="0" l="10" r="0" t="0"/>
            <a:stretch/>
          </p:blipFill>
          <p:spPr>
            <a:xfrm>
              <a:off x="3733800" y="-9525"/>
              <a:ext cx="4019700" cy="9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54"/>
            <p:cNvSpPr txBox="1"/>
            <p:nvPr/>
          </p:nvSpPr>
          <p:spPr>
            <a:xfrm>
              <a:off x="3924300" y="310388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800">
                  <a:solidFill>
                    <a:srgbClr val="AB4F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light_mode</a:t>
              </a:r>
              <a:endParaRPr b="0" i="0" sz="2800">
                <a:solidFill>
                  <a:srgbClr val="AB4F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05" name="Google Shape;505;p54"/>
            <p:cNvSpPr txBox="1"/>
            <p:nvPr/>
          </p:nvSpPr>
          <p:spPr>
            <a:xfrm>
              <a:off x="4229650" y="0"/>
              <a:ext cx="3504900" cy="91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“Windshield Wiper” / Servos</a:t>
              </a:r>
              <a:endParaRPr b="0" i="0" sz="20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grpSp>
        <p:nvGrpSpPr>
          <p:cNvPr id="506" name="Google Shape;506;p54"/>
          <p:cNvGrpSpPr/>
          <p:nvPr/>
        </p:nvGrpSpPr>
        <p:grpSpPr>
          <a:xfrm>
            <a:off x="4951050" y="2777100"/>
            <a:ext cx="4019700" cy="933600"/>
            <a:chOff x="3733800" y="-9525"/>
            <a:chExt cx="4019700" cy="933600"/>
          </a:xfrm>
        </p:grpSpPr>
        <p:pic>
          <p:nvPicPr>
            <p:cNvPr id="507" name="Google Shape;507;p54"/>
            <p:cNvPicPr preferRelativeResize="0"/>
            <p:nvPr/>
          </p:nvPicPr>
          <p:blipFill rotWithShape="1">
            <a:blip r:embed="rId4">
              <a:alphaModFix/>
            </a:blip>
            <a:srcRect b="0" l="10" r="0" t="0"/>
            <a:stretch/>
          </p:blipFill>
          <p:spPr>
            <a:xfrm>
              <a:off x="3733800" y="-9525"/>
              <a:ext cx="4019700" cy="9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54"/>
            <p:cNvSpPr txBox="1"/>
            <p:nvPr/>
          </p:nvSpPr>
          <p:spPr>
            <a:xfrm>
              <a:off x="3924300" y="310388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800">
                  <a:solidFill>
                    <a:srgbClr val="FF5F7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water_drop</a:t>
              </a:r>
              <a:endParaRPr b="0" i="0" sz="2800">
                <a:solidFill>
                  <a:srgbClr val="FF5F7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09" name="Google Shape;509;p54"/>
            <p:cNvSpPr txBox="1"/>
            <p:nvPr/>
          </p:nvSpPr>
          <p:spPr>
            <a:xfrm>
              <a:off x="3733800" y="0"/>
              <a:ext cx="4000500" cy="91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“Headlights” / LEDs</a:t>
              </a:r>
              <a:endParaRPr b="0" i="0" sz="20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pic>
        <p:nvPicPr>
          <p:cNvPr descr="White line Timing belt kit icon isolated with long shadow. Red circle button. Vector Illustration (Provided by Getty Images)" id="510" name="Google Shape;510;p54"/>
          <p:cNvPicPr preferRelativeResize="0"/>
          <p:nvPr/>
        </p:nvPicPr>
        <p:blipFill rotWithShape="1">
          <a:blip r:embed="rId5">
            <a:alphaModFix/>
          </a:blip>
          <a:srcRect b="11187" l="9106" r="10099" t="9756"/>
          <a:stretch/>
        </p:blipFill>
        <p:spPr>
          <a:xfrm>
            <a:off x="637350" y="457200"/>
            <a:ext cx="1893300" cy="18522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White line Light emitting diode icon isolated with long shadow. Semiconductor diode electrical component. Red circle button. Vector Illustration (Provided by Getty Images)" id="511" name="Google Shape;511;p54"/>
          <p:cNvPicPr preferRelativeResize="0"/>
          <p:nvPr/>
        </p:nvPicPr>
        <p:blipFill rotWithShape="1">
          <a:blip r:embed="rId6">
            <a:alphaModFix/>
          </a:blip>
          <a:srcRect b="9873" l="9494" r="9704" t="11082"/>
          <a:stretch/>
        </p:blipFill>
        <p:spPr>
          <a:xfrm>
            <a:off x="637350" y="2831400"/>
            <a:ext cx="1893300" cy="1852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5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7" name="Google Shape;517;p55"/>
          <p:cNvSpPr/>
          <p:nvPr/>
        </p:nvSpPr>
        <p:spPr>
          <a:xfrm rot="-5400000">
            <a:off x="3840900" y="-602400"/>
            <a:ext cx="1462200" cy="91548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8" name="Google Shape;518;p55"/>
          <p:cNvSpPr txBox="1"/>
          <p:nvPr>
            <p:ph idx="2" type="title"/>
          </p:nvPr>
        </p:nvSpPr>
        <p:spPr>
          <a:xfrm>
            <a:off x="5012400" y="1714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CONSTRAINTS</a:t>
            </a:r>
            <a:endParaRPr b="1" i="0" sz="360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9" name="Google Shape;519;p55"/>
          <p:cNvSpPr txBox="1"/>
          <p:nvPr>
            <p:ph idx="1" type="subTitle"/>
          </p:nvPr>
        </p:nvSpPr>
        <p:spPr>
          <a:xfrm>
            <a:off x="5144850" y="841825"/>
            <a:ext cx="3735600" cy="267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FF5F79"/>
              </a:buClr>
              <a:buSzPts val="1650"/>
              <a:buFont typeface="Figtree Medium"/>
              <a:buChar char="●"/>
            </a:pPr>
            <a:r>
              <a:rPr lang="en" sz="1650">
                <a:latin typeface="Figtree Medium"/>
                <a:ea typeface="Figtree Medium"/>
                <a:cs typeface="Figtree Medium"/>
                <a:sym typeface="Figtree Medium"/>
              </a:rPr>
              <a:t>Must use breadboard and microcontroller</a:t>
            </a:r>
            <a:endParaRPr sz="165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33375" lvl="0" marL="457200" rtl="0" algn="l">
              <a:spcBef>
                <a:spcPts val="1400"/>
              </a:spcBef>
              <a:spcAft>
                <a:spcPts val="0"/>
              </a:spcAft>
              <a:buClr>
                <a:srgbClr val="FF5F79"/>
              </a:buClr>
              <a:buSzPts val="1650"/>
              <a:buFont typeface="Figtree Medium"/>
              <a:buChar char="●"/>
            </a:pPr>
            <a:r>
              <a:rPr lang="en" sz="1650">
                <a:latin typeface="Figtree Medium"/>
                <a:ea typeface="Figtree Medium"/>
                <a:cs typeface="Figtree Medium"/>
                <a:sym typeface="Figtree Medium"/>
              </a:rPr>
              <a:t>Incorporate homemade sensor</a:t>
            </a:r>
            <a:endParaRPr sz="165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33375" lvl="0" marL="457200" rtl="0" algn="l">
              <a:spcBef>
                <a:spcPts val="1400"/>
              </a:spcBef>
              <a:spcAft>
                <a:spcPts val="0"/>
              </a:spcAft>
              <a:buClr>
                <a:srgbClr val="FF5F79"/>
              </a:buClr>
              <a:buSzPts val="1650"/>
              <a:buFont typeface="Figtree Medium"/>
              <a:buChar char="●"/>
            </a:pPr>
            <a:r>
              <a:rPr lang="en" sz="1650">
                <a:latin typeface="Figtree Medium"/>
                <a:ea typeface="Figtree Medium"/>
                <a:cs typeface="Figtree Medium"/>
                <a:sym typeface="Figtree Medium"/>
              </a:rPr>
              <a:t>About a week of in-lab time</a:t>
            </a:r>
            <a:endParaRPr sz="165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6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520" name="Google Shape;520;p55" title="IMG_345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25" y="291032"/>
            <a:ext cx="3735598" cy="2801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6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26" name="Google Shape;526;p56" title="IMG_3448.jpeg"/>
          <p:cNvPicPr preferRelativeResize="0"/>
          <p:nvPr/>
        </p:nvPicPr>
        <p:blipFill rotWithShape="1">
          <a:blip r:embed="rId3">
            <a:alphaModFix/>
          </a:blip>
          <a:srcRect b="0" l="29467" r="29471" t="0"/>
          <a:stretch/>
        </p:blipFill>
        <p:spPr>
          <a:xfrm>
            <a:off x="6328300" y="0"/>
            <a:ext cx="28161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6"/>
          <p:cNvSpPr/>
          <p:nvPr/>
        </p:nvSpPr>
        <p:spPr>
          <a:xfrm>
            <a:off x="4952675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8" name="Google Shape;528;p56"/>
          <p:cNvSpPr txBox="1"/>
          <p:nvPr>
            <p:ph idx="2" type="title"/>
          </p:nvPr>
        </p:nvSpPr>
        <p:spPr>
          <a:xfrm>
            <a:off x="457200" y="45720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REQUIREMENTS</a:t>
            </a:r>
            <a:endParaRPr b="1" sz="360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9" name="Google Shape;529;p56"/>
          <p:cNvSpPr txBox="1"/>
          <p:nvPr>
            <p:ph idx="1" type="subTitle"/>
          </p:nvPr>
        </p:nvSpPr>
        <p:spPr>
          <a:xfrm>
            <a:off x="457200" y="1190625"/>
            <a:ext cx="4286400" cy="256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FF5F79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Must interact with other people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FF5F79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Prototype is designed to improve someone’s quality of life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FF5F79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Multiple inputs and outputs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FF5F79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Use AI to help develop the code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FF5F79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At least 1 LED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FF5F79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At least one additional element (button, light resistor, potentiometer, etc.)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7"/>
          <p:cNvSpPr/>
          <p:nvPr/>
        </p:nvSpPr>
        <p:spPr>
          <a:xfrm>
            <a:off x="1625699" y="1536975"/>
            <a:ext cx="5986500" cy="18957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5" name="Google Shape;535;p57"/>
          <p:cNvSpPr txBox="1"/>
          <p:nvPr>
            <p:ph idx="1" type="subTitle"/>
          </p:nvPr>
        </p:nvSpPr>
        <p:spPr>
          <a:xfrm>
            <a:off x="2484400" y="1790025"/>
            <a:ext cx="4385400" cy="13896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3635"/>
              <a:t>Design Process</a:t>
            </a:r>
            <a:endParaRPr sz="363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"/>
          <p:cNvSpPr/>
          <p:nvPr/>
        </p:nvSpPr>
        <p:spPr>
          <a:xfrm>
            <a:off x="233414" y="157525"/>
            <a:ext cx="4385400" cy="47547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41" name="Google Shape;541;p58"/>
          <p:cNvSpPr txBox="1"/>
          <p:nvPr>
            <p:ph idx="4294967295" type="body"/>
          </p:nvPr>
        </p:nvSpPr>
        <p:spPr>
          <a:xfrm>
            <a:off x="647732" y="1372807"/>
            <a:ext cx="3556800" cy="1045200"/>
          </a:xfrm>
          <a:prstGeom prst="rect">
            <a:avLst/>
          </a:prstGeom>
        </p:spPr>
        <p:txBody>
          <a:bodyPr anchorCtr="0" anchor="t" bIns="133850" lIns="133850" spcFirstLastPara="1" rIns="133850" wrap="square" tIns="133850">
            <a:noAutofit/>
          </a:bodyPr>
          <a:lstStyle/>
          <a:p>
            <a:pPr indent="-278888" lvl="0" marL="418332" rtl="0" algn="l">
              <a:spcBef>
                <a:spcPts val="0"/>
              </a:spcBef>
              <a:spcAft>
                <a:spcPts val="0"/>
              </a:spcAft>
              <a:buSzPts val="1757"/>
              <a:buChar char="⟶"/>
            </a:pPr>
            <a:r>
              <a:rPr lang="en" sz="1757"/>
              <a:t>Microcontroller</a:t>
            </a:r>
            <a:endParaRPr sz="1757"/>
          </a:p>
          <a:p>
            <a:pPr indent="-278888" lvl="0" marL="418332" rtl="0" algn="l">
              <a:spcBef>
                <a:spcPts val="1464"/>
              </a:spcBef>
              <a:spcAft>
                <a:spcPts val="0"/>
              </a:spcAft>
              <a:buSzPts val="1757"/>
              <a:buChar char="⟶"/>
            </a:pPr>
            <a:r>
              <a:rPr lang="en" sz="1757"/>
              <a:t>Servo motors (wipers) that go off when vapor detected</a:t>
            </a:r>
            <a:endParaRPr sz="1757"/>
          </a:p>
          <a:p>
            <a:pPr indent="-278888" lvl="0" marL="418332" rtl="0" algn="l">
              <a:spcBef>
                <a:spcPts val="1464"/>
              </a:spcBef>
              <a:spcAft>
                <a:spcPts val="0"/>
              </a:spcAft>
              <a:buSzPts val="1757"/>
              <a:buChar char="⟶"/>
            </a:pPr>
            <a:r>
              <a:rPr lang="en" sz="1757"/>
              <a:t>LEDS (headlights) that turn on when light gets low</a:t>
            </a:r>
            <a:endParaRPr sz="1757"/>
          </a:p>
          <a:p>
            <a:pPr indent="-278888" lvl="0" marL="418332" rtl="0" algn="l">
              <a:spcBef>
                <a:spcPts val="1464"/>
              </a:spcBef>
              <a:spcAft>
                <a:spcPts val="0"/>
              </a:spcAft>
              <a:buSzPts val="1757"/>
              <a:buChar char="⟶"/>
            </a:pPr>
            <a:r>
              <a:rPr lang="en" sz="1757"/>
              <a:t>Button for manual override</a:t>
            </a:r>
            <a:endParaRPr sz="1757"/>
          </a:p>
          <a:p>
            <a:pPr indent="-278888" lvl="0" marL="418332" rtl="0" algn="l">
              <a:spcBef>
                <a:spcPts val="1464"/>
              </a:spcBef>
              <a:spcAft>
                <a:spcPts val="1464"/>
              </a:spcAft>
              <a:buSzPts val="1757"/>
              <a:buChar char="⟶"/>
            </a:pPr>
            <a:r>
              <a:rPr lang="en" sz="1757"/>
              <a:t>Made system flow chart</a:t>
            </a:r>
            <a:endParaRPr sz="1757"/>
          </a:p>
        </p:txBody>
      </p:sp>
      <p:sp>
        <p:nvSpPr>
          <p:cNvPr id="542" name="Google Shape;542;p58"/>
          <p:cNvSpPr txBox="1"/>
          <p:nvPr>
            <p:ph idx="4294967295" type="subTitle"/>
          </p:nvPr>
        </p:nvSpPr>
        <p:spPr>
          <a:xfrm>
            <a:off x="233425" y="228600"/>
            <a:ext cx="4385400" cy="1081500"/>
          </a:xfrm>
          <a:prstGeom prst="rect">
            <a:avLst/>
          </a:prstGeom>
        </p:spPr>
        <p:txBody>
          <a:bodyPr anchorCtr="0" anchor="t" bIns="133850" lIns="133850" spcFirstLastPara="1" rIns="133850" wrap="square" tIns="133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accent5"/>
                </a:solidFill>
              </a:rPr>
              <a:t>Step 1: </a:t>
            </a:r>
            <a:endParaRPr sz="2635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accent5"/>
                </a:solidFill>
              </a:rPr>
              <a:t>Component planning</a:t>
            </a:r>
            <a:endParaRPr sz="2635">
              <a:solidFill>
                <a:schemeClr val="accent5"/>
              </a:solidFill>
            </a:endParaRPr>
          </a:p>
        </p:txBody>
      </p:sp>
      <p:pic>
        <p:nvPicPr>
          <p:cNvPr id="543" name="Google Shape;543;p58" title="IMG_362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214" y="655263"/>
            <a:ext cx="4220385" cy="3832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/>
          <p:nvPr/>
        </p:nvSpPr>
        <p:spPr>
          <a:xfrm>
            <a:off x="4843351" y="177600"/>
            <a:ext cx="4157700" cy="47346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49" name="Google Shape;549;p59"/>
          <p:cNvSpPr txBox="1"/>
          <p:nvPr>
            <p:ph idx="4294967295" type="body"/>
          </p:nvPr>
        </p:nvSpPr>
        <p:spPr>
          <a:xfrm>
            <a:off x="5098789" y="1362000"/>
            <a:ext cx="3646800" cy="24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5425" lvl="0" marL="285750" rtl="0" algn="l">
              <a:spcBef>
                <a:spcPts val="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Made basic circuit schematic</a:t>
            </a:r>
            <a:endParaRPr sz="1750"/>
          </a:p>
          <a:p>
            <a:pPr indent="-225425" lvl="0" marL="285750" rtl="0" algn="l">
              <a:spcBef>
                <a:spcPts val="100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Modified basic vapor sensor design</a:t>
            </a:r>
            <a:endParaRPr sz="1750"/>
          </a:p>
          <a:p>
            <a:pPr indent="-225425" lvl="0" marL="285750" rtl="0" algn="l">
              <a:spcBef>
                <a:spcPts val="100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Added our basic light sensor circuit</a:t>
            </a:r>
            <a:endParaRPr sz="1750"/>
          </a:p>
          <a:p>
            <a:pPr indent="-225425" lvl="0" marL="285750" rtl="0" algn="l">
              <a:spcBef>
                <a:spcPts val="1000"/>
              </a:spcBef>
              <a:spcAft>
                <a:spcPts val="1000"/>
              </a:spcAft>
              <a:buSzPts val="1750"/>
              <a:buChar char="⟶"/>
            </a:pPr>
            <a:r>
              <a:rPr lang="en" sz="1750"/>
              <a:t>Added basic button circuit</a:t>
            </a:r>
            <a:endParaRPr sz="1750"/>
          </a:p>
        </p:txBody>
      </p:sp>
      <p:sp>
        <p:nvSpPr>
          <p:cNvPr id="550" name="Google Shape;550;p59"/>
          <p:cNvSpPr txBox="1"/>
          <p:nvPr>
            <p:ph idx="4294967295" type="subTitle"/>
          </p:nvPr>
        </p:nvSpPr>
        <p:spPr>
          <a:xfrm>
            <a:off x="5158040" y="402750"/>
            <a:ext cx="3646800" cy="8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</a:rPr>
              <a:t>Step 2: </a:t>
            </a:r>
            <a:endParaRPr sz="26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</a:rPr>
              <a:t>Circuit building</a:t>
            </a:r>
            <a:endParaRPr sz="2600">
              <a:solidFill>
                <a:schemeClr val="accent5"/>
              </a:solidFill>
            </a:endParaRPr>
          </a:p>
        </p:txBody>
      </p:sp>
      <p:pic>
        <p:nvPicPr>
          <p:cNvPr id="551" name="Google Shape;551;p59" title="IMG_345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0" y="842938"/>
            <a:ext cx="4538552" cy="3403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0"/>
          <p:cNvSpPr/>
          <p:nvPr/>
        </p:nvSpPr>
        <p:spPr>
          <a:xfrm>
            <a:off x="233414" y="157525"/>
            <a:ext cx="4385400" cy="47547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7" name="Google Shape;557;p60"/>
          <p:cNvSpPr txBox="1"/>
          <p:nvPr>
            <p:ph idx="4294967295" type="body"/>
          </p:nvPr>
        </p:nvSpPr>
        <p:spPr>
          <a:xfrm>
            <a:off x="647732" y="1372807"/>
            <a:ext cx="3556800" cy="1045200"/>
          </a:xfrm>
          <a:prstGeom prst="rect">
            <a:avLst/>
          </a:prstGeom>
        </p:spPr>
        <p:txBody>
          <a:bodyPr anchorCtr="0" anchor="t" bIns="133850" lIns="133850" spcFirstLastPara="1" rIns="133850" wrap="square" tIns="133850">
            <a:noAutofit/>
          </a:bodyPr>
          <a:lstStyle/>
          <a:p>
            <a:pPr indent="-445789" lvl="0" marL="669329" rtl="0" algn="l">
              <a:spcBef>
                <a:spcPts val="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Used AI to get diagnostic code for each element (botton, light sensor, vapor sensor, etc.)</a:t>
            </a:r>
            <a:endParaRPr sz="1750"/>
          </a:p>
          <a:p>
            <a:pPr indent="-445789" lvl="0" marL="669329" rtl="0" algn="l">
              <a:spcBef>
                <a:spcPts val="100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Integrated each piece of code one at a time </a:t>
            </a:r>
            <a:endParaRPr sz="1750"/>
          </a:p>
          <a:p>
            <a:pPr indent="-445789" lvl="0" marL="669329" rtl="0" algn="l">
              <a:spcBef>
                <a:spcPts val="1000"/>
              </a:spcBef>
              <a:spcAft>
                <a:spcPts val="1000"/>
              </a:spcAft>
              <a:buSzPts val="1750"/>
              <a:buChar char="⟶"/>
            </a:pPr>
            <a:r>
              <a:rPr lang="en" sz="1750"/>
              <a:t>Tested code with each addition</a:t>
            </a:r>
            <a:endParaRPr sz="1750"/>
          </a:p>
        </p:txBody>
      </p:sp>
      <p:sp>
        <p:nvSpPr>
          <p:cNvPr id="558" name="Google Shape;558;p60"/>
          <p:cNvSpPr txBox="1"/>
          <p:nvPr>
            <p:ph idx="4294967295" type="subTitle"/>
          </p:nvPr>
        </p:nvSpPr>
        <p:spPr>
          <a:xfrm>
            <a:off x="233425" y="228600"/>
            <a:ext cx="4385400" cy="1081500"/>
          </a:xfrm>
          <a:prstGeom prst="rect">
            <a:avLst/>
          </a:prstGeom>
        </p:spPr>
        <p:txBody>
          <a:bodyPr anchorCtr="0" anchor="t" bIns="133850" lIns="133850" spcFirstLastPara="1" rIns="133850" wrap="square" tIns="133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accent5"/>
                </a:solidFill>
              </a:rPr>
              <a:t>Step </a:t>
            </a:r>
            <a:r>
              <a:rPr lang="en" sz="2635">
                <a:solidFill>
                  <a:schemeClr val="accent5"/>
                </a:solidFill>
              </a:rPr>
              <a:t>3</a:t>
            </a:r>
            <a:r>
              <a:rPr lang="en" sz="2635">
                <a:solidFill>
                  <a:schemeClr val="accent5"/>
                </a:solidFill>
              </a:rPr>
              <a:t>: </a:t>
            </a:r>
            <a:endParaRPr sz="2635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accent5"/>
                </a:solidFill>
              </a:rPr>
              <a:t>Code writing</a:t>
            </a:r>
            <a:endParaRPr sz="2635">
              <a:solidFill>
                <a:schemeClr val="accent5"/>
              </a:solidFill>
            </a:endParaRPr>
          </a:p>
        </p:txBody>
      </p:sp>
      <p:pic>
        <p:nvPicPr>
          <p:cNvPr id="559" name="Google Shape;55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9739" y="588838"/>
            <a:ext cx="4220385" cy="389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1"/>
          <p:cNvSpPr/>
          <p:nvPr/>
        </p:nvSpPr>
        <p:spPr>
          <a:xfrm>
            <a:off x="4843351" y="177600"/>
            <a:ext cx="4157700" cy="47346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65" name="Google Shape;565;p61"/>
          <p:cNvSpPr txBox="1"/>
          <p:nvPr>
            <p:ph idx="4294967295" type="body"/>
          </p:nvPr>
        </p:nvSpPr>
        <p:spPr>
          <a:xfrm>
            <a:off x="5098789" y="1362000"/>
            <a:ext cx="3646800" cy="24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Built cardboard car model</a:t>
            </a:r>
            <a:endParaRPr sz="1750"/>
          </a:p>
          <a:p>
            <a:pPr indent="-339725" lvl="0" marL="457200" rtl="0" algn="l">
              <a:spcBef>
                <a:spcPts val="100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Taped moving components into prototype</a:t>
            </a:r>
            <a:endParaRPr sz="1750"/>
          </a:p>
          <a:p>
            <a:pPr indent="-339725" lvl="0" marL="457200" rtl="0" algn="l">
              <a:spcBef>
                <a:spcPts val="100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Checked servo motor movement </a:t>
            </a:r>
            <a:endParaRPr sz="1750"/>
          </a:p>
          <a:p>
            <a:pPr indent="-339725" lvl="0" marL="457200" rtl="0" algn="l">
              <a:spcBef>
                <a:spcPts val="1000"/>
              </a:spcBef>
              <a:spcAft>
                <a:spcPts val="1000"/>
              </a:spcAft>
              <a:buSzPts val="1750"/>
              <a:buChar char="⟶"/>
            </a:pPr>
            <a:r>
              <a:rPr lang="en" sz="1750"/>
              <a:t>Tested to find light and vapor sensor threshold</a:t>
            </a:r>
            <a:endParaRPr sz="1750"/>
          </a:p>
        </p:txBody>
      </p:sp>
      <p:sp>
        <p:nvSpPr>
          <p:cNvPr id="566" name="Google Shape;566;p61"/>
          <p:cNvSpPr txBox="1"/>
          <p:nvPr>
            <p:ph idx="4294967295" type="subTitle"/>
          </p:nvPr>
        </p:nvSpPr>
        <p:spPr>
          <a:xfrm>
            <a:off x="5158040" y="402750"/>
            <a:ext cx="3646800" cy="8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</a:rPr>
              <a:t>Step 4: </a:t>
            </a:r>
            <a:endParaRPr sz="26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</a:rPr>
              <a:t>Prototype testing</a:t>
            </a:r>
            <a:endParaRPr sz="2600">
              <a:solidFill>
                <a:schemeClr val="accent5"/>
              </a:solidFill>
            </a:endParaRPr>
          </a:p>
        </p:txBody>
      </p:sp>
      <p:pic>
        <p:nvPicPr>
          <p:cNvPr id="567" name="Google Shape;567;p61" title="IMG_357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25" y="869788"/>
            <a:ext cx="4538552" cy="3403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2"/>
          <p:cNvSpPr/>
          <p:nvPr/>
        </p:nvSpPr>
        <p:spPr>
          <a:xfrm>
            <a:off x="1625699" y="1536975"/>
            <a:ext cx="5986500" cy="18957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3" name="Google Shape;573;p62"/>
          <p:cNvSpPr txBox="1"/>
          <p:nvPr>
            <p:ph idx="1" type="subTitle"/>
          </p:nvPr>
        </p:nvSpPr>
        <p:spPr>
          <a:xfrm>
            <a:off x="2484400" y="1790025"/>
            <a:ext cx="4385400" cy="13896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3635"/>
              <a:t>Use of AI</a:t>
            </a:r>
            <a:r>
              <a:rPr lang="en" sz="3635"/>
              <a:t> </a:t>
            </a:r>
            <a:endParaRPr sz="363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3"/>
          <p:cNvSpPr/>
          <p:nvPr/>
        </p:nvSpPr>
        <p:spPr>
          <a:xfrm>
            <a:off x="385950" y="457200"/>
            <a:ext cx="3638100" cy="43689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9" name="Google Shape;579;p63"/>
          <p:cNvSpPr txBox="1"/>
          <p:nvPr>
            <p:ph idx="1" type="subTitle"/>
          </p:nvPr>
        </p:nvSpPr>
        <p:spPr>
          <a:xfrm>
            <a:off x="385950" y="1413450"/>
            <a:ext cx="3289800" cy="22182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3635"/>
              <a:t>AI wrote and developed all of the code for our project</a:t>
            </a:r>
            <a:endParaRPr sz="3635"/>
          </a:p>
        </p:txBody>
      </p:sp>
      <p:sp>
        <p:nvSpPr>
          <p:cNvPr id="580" name="Google Shape;580;p63"/>
          <p:cNvSpPr/>
          <p:nvPr/>
        </p:nvSpPr>
        <p:spPr>
          <a:xfrm>
            <a:off x="4365025" y="1345250"/>
            <a:ext cx="4468500" cy="28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81" name="Google Shape;58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1825" y="1680938"/>
            <a:ext cx="4374900" cy="168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4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7" name="Google Shape;587;p64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88" name="Google Shape;588;p64"/>
          <p:cNvSpPr/>
          <p:nvPr/>
        </p:nvSpPr>
        <p:spPr>
          <a:xfrm>
            <a:off x="238100" y="1084850"/>
            <a:ext cx="2778600" cy="18240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28588" rotWithShape="0" algn="bl">
              <a:schemeClr val="lt2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89" name="Google Shape;589;p64"/>
          <p:cNvSpPr/>
          <p:nvPr/>
        </p:nvSpPr>
        <p:spPr>
          <a:xfrm>
            <a:off x="6131950" y="1084850"/>
            <a:ext cx="2778600" cy="1486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28588" rotWithShape="0" algn="bl">
              <a:schemeClr val="lt2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90" name="Google Shape;590;p64"/>
          <p:cNvSpPr/>
          <p:nvPr/>
        </p:nvSpPr>
        <p:spPr>
          <a:xfrm>
            <a:off x="3185025" y="2226950"/>
            <a:ext cx="2778600" cy="1891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28588" rotWithShape="0" algn="bl">
              <a:schemeClr val="lt2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91" name="Google Shape;591;p64"/>
          <p:cNvSpPr txBox="1"/>
          <p:nvPr>
            <p:ph idx="3" type="title"/>
          </p:nvPr>
        </p:nvSpPr>
        <p:spPr>
          <a:xfrm>
            <a:off x="304800" y="419100"/>
            <a:ext cx="381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OUR PROCESS</a:t>
            </a:r>
            <a:endParaRPr b="1" sz="220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2" name="Google Shape;592;p64"/>
          <p:cNvSpPr txBox="1"/>
          <p:nvPr>
            <p:ph idx="1" type="subTitle"/>
          </p:nvPr>
        </p:nvSpPr>
        <p:spPr>
          <a:xfrm>
            <a:off x="533400" y="1447800"/>
            <a:ext cx="2247900" cy="26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B4FF6"/>
                </a:solidFill>
                <a:latin typeface="Figtree"/>
                <a:ea typeface="Figtree"/>
                <a:cs typeface="Figtree"/>
                <a:sym typeface="Figtree"/>
              </a:rPr>
              <a:t>STEP 01</a:t>
            </a:r>
            <a:endParaRPr b="1" sz="1300">
              <a:solidFill>
                <a:srgbClr val="AB4FF6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Create Individual Diagnostics Tests</a:t>
            </a:r>
            <a:endParaRPr b="0" sz="2100">
              <a:solidFill>
                <a:srgbClr val="FFFFFF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93" name="Google Shape;593;p64"/>
          <p:cNvSpPr txBox="1"/>
          <p:nvPr>
            <p:ph idx="5" type="subTitle"/>
          </p:nvPr>
        </p:nvSpPr>
        <p:spPr>
          <a:xfrm>
            <a:off x="3450375" y="2514600"/>
            <a:ext cx="2247900" cy="26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5F79"/>
                </a:solidFill>
                <a:latin typeface="Figtree"/>
                <a:ea typeface="Figtree"/>
                <a:cs typeface="Figtree"/>
                <a:sym typeface="Figtree"/>
              </a:rPr>
              <a:t>STEP 02</a:t>
            </a:r>
            <a:endParaRPr b="1" sz="130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Synthesize Diagnostics</a:t>
            </a:r>
            <a:endParaRPr b="0" sz="2100">
              <a:solidFill>
                <a:srgbClr val="FFFFFF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94" name="Google Shape;594;p64"/>
          <p:cNvSpPr txBox="1"/>
          <p:nvPr>
            <p:ph idx="7" type="subTitle"/>
          </p:nvPr>
        </p:nvSpPr>
        <p:spPr>
          <a:xfrm>
            <a:off x="6362700" y="1447800"/>
            <a:ext cx="2247900" cy="26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B4FF6"/>
                </a:solidFill>
                <a:latin typeface="Figtree"/>
                <a:ea typeface="Figtree"/>
                <a:cs typeface="Figtree"/>
                <a:sym typeface="Figtree"/>
              </a:rPr>
              <a:t>STEP 03</a:t>
            </a:r>
            <a:endParaRPr b="1" sz="1300">
              <a:solidFill>
                <a:srgbClr val="AB4FF6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Trouble</a:t>
            </a:r>
            <a:r>
              <a:rPr lang="en" sz="21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</a:t>
            </a:r>
            <a:r>
              <a:rPr b="0" lang="en" sz="21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hoot</a:t>
            </a:r>
            <a:endParaRPr b="0" sz="2100">
              <a:solidFill>
                <a:srgbClr val="FFFFFF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0" name="Google Shape;600;p65"/>
          <p:cNvSpPr txBox="1"/>
          <p:nvPr>
            <p:ph idx="1" type="subTitle"/>
          </p:nvPr>
        </p:nvSpPr>
        <p:spPr>
          <a:xfrm>
            <a:off x="228600" y="1359899"/>
            <a:ext cx="4381500" cy="18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60">
                <a:solidFill>
                  <a:srgbClr val="FFFFFF"/>
                </a:solidFill>
              </a:rPr>
              <a:t>The most important piece to our AI interactions was </a:t>
            </a:r>
            <a:r>
              <a:rPr b="1" lang="en" sz="3060">
                <a:solidFill>
                  <a:srgbClr val="FFFFFF"/>
                </a:solidFill>
              </a:rPr>
              <a:t>asking questions.</a:t>
            </a:r>
            <a:endParaRPr b="1" i="0" sz="3060" u="none" strike="noStrike">
              <a:solidFill>
                <a:srgbClr val="FFFFFF"/>
              </a:solidFill>
            </a:endParaRPr>
          </a:p>
        </p:txBody>
      </p:sp>
      <p:pic>
        <p:nvPicPr>
          <p:cNvPr id="601" name="Google Shape;60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775" y="3128045"/>
            <a:ext cx="4269926" cy="8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575" y="1528825"/>
            <a:ext cx="4158324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9925" y="4473225"/>
            <a:ext cx="5222775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6"/>
          <p:cNvSpPr/>
          <p:nvPr/>
        </p:nvSpPr>
        <p:spPr>
          <a:xfrm>
            <a:off x="4525050" y="627950"/>
            <a:ext cx="4390500" cy="35631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9" name="Google Shape;609;p66"/>
          <p:cNvSpPr txBox="1"/>
          <p:nvPr>
            <p:ph idx="1" type="subTitle"/>
          </p:nvPr>
        </p:nvSpPr>
        <p:spPr>
          <a:xfrm>
            <a:off x="4753100" y="1450975"/>
            <a:ext cx="4035000" cy="16869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3635"/>
              <a:t>Through trial and error we eventually created a very reliable program.</a:t>
            </a:r>
            <a:endParaRPr sz="3635"/>
          </a:p>
        </p:txBody>
      </p:sp>
      <p:pic>
        <p:nvPicPr>
          <p:cNvPr id="610" name="Google Shape;61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600" y="542475"/>
            <a:ext cx="1261050" cy="13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66"/>
          <p:cNvPicPr preferRelativeResize="0"/>
          <p:nvPr/>
        </p:nvPicPr>
        <p:blipFill rotWithShape="1">
          <a:blip r:embed="rId4">
            <a:alphaModFix/>
          </a:blip>
          <a:srcRect b="0" l="5141" r="0" t="0"/>
          <a:stretch/>
        </p:blipFill>
        <p:spPr>
          <a:xfrm>
            <a:off x="0" y="2242725"/>
            <a:ext cx="1690800" cy="1747200"/>
          </a:xfrm>
          <a:prstGeom prst="flowChartConnector">
            <a:avLst/>
          </a:prstGeom>
          <a:noFill/>
          <a:ln>
            <a:noFill/>
          </a:ln>
        </p:spPr>
      </p:pic>
      <p:sp>
        <p:nvSpPr>
          <p:cNvPr id="612" name="Google Shape;612;p66"/>
          <p:cNvSpPr/>
          <p:nvPr/>
        </p:nvSpPr>
        <p:spPr>
          <a:xfrm>
            <a:off x="327450" y="689725"/>
            <a:ext cx="1328700" cy="1353000"/>
          </a:xfrm>
          <a:prstGeom prst="bentArrow">
            <a:avLst>
              <a:gd fmla="val 25000" name="adj1"/>
              <a:gd fmla="val 26438" name="adj2"/>
              <a:gd fmla="val 25000" name="adj3"/>
              <a:gd fmla="val 44694" name="adj4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3" name="Google Shape;613;p66"/>
          <p:cNvSpPr/>
          <p:nvPr/>
        </p:nvSpPr>
        <p:spPr>
          <a:xfrm rot="10800000">
            <a:off x="1734600" y="2194450"/>
            <a:ext cx="1328700" cy="1353000"/>
          </a:xfrm>
          <a:prstGeom prst="bentArrow">
            <a:avLst>
              <a:gd fmla="val 25000" name="adj1"/>
              <a:gd fmla="val 26438" name="adj2"/>
              <a:gd fmla="val 25000" name="adj3"/>
              <a:gd fmla="val 44694" name="adj4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7"/>
          <p:cNvSpPr/>
          <p:nvPr/>
        </p:nvSpPr>
        <p:spPr>
          <a:xfrm>
            <a:off x="1538350" y="1441650"/>
            <a:ext cx="6277500" cy="22602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19" name="Google Shape;619;p67"/>
          <p:cNvSpPr txBox="1"/>
          <p:nvPr>
            <p:ph idx="1" type="subTitle"/>
          </p:nvPr>
        </p:nvSpPr>
        <p:spPr>
          <a:xfrm>
            <a:off x="1827775" y="1801500"/>
            <a:ext cx="5712300" cy="16869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5035"/>
              <a:t>Results</a:t>
            </a:r>
            <a:endParaRPr sz="503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8"/>
          <p:cNvSpPr/>
          <p:nvPr/>
        </p:nvSpPr>
        <p:spPr>
          <a:xfrm>
            <a:off x="228625" y="228600"/>
            <a:ext cx="2595900" cy="46824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5" name="Google Shape;625;p68"/>
          <p:cNvSpPr/>
          <p:nvPr/>
        </p:nvSpPr>
        <p:spPr>
          <a:xfrm>
            <a:off x="3154650" y="228600"/>
            <a:ext cx="2836200" cy="46824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6" name="Google Shape;626;p68"/>
          <p:cNvSpPr/>
          <p:nvPr/>
        </p:nvSpPr>
        <p:spPr>
          <a:xfrm>
            <a:off x="6319500" y="228600"/>
            <a:ext cx="2595900" cy="46824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7" name="Google Shape;627;p68"/>
          <p:cNvSpPr txBox="1"/>
          <p:nvPr>
            <p:ph idx="1" type="subTitle"/>
          </p:nvPr>
        </p:nvSpPr>
        <p:spPr>
          <a:xfrm>
            <a:off x="228625" y="1742525"/>
            <a:ext cx="2444700" cy="256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Human interaction</a:t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Multiple inputs and outputs</a:t>
            </a:r>
            <a:endParaRPr b="0" i="0"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b="0" i="0"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Use AI to help develop the code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8" name="Google Shape;628;p68"/>
          <p:cNvSpPr txBox="1"/>
          <p:nvPr>
            <p:ph idx="1" type="subTitle"/>
          </p:nvPr>
        </p:nvSpPr>
        <p:spPr>
          <a:xfrm>
            <a:off x="3349663" y="1648450"/>
            <a:ext cx="2444700" cy="256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Button was key for controlling wipers</a:t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LEDs and servos were synchronized</a:t>
            </a:r>
            <a:endParaRPr b="0" i="0"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Functional circuit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9" name="Google Shape;629;p68"/>
          <p:cNvSpPr txBox="1"/>
          <p:nvPr>
            <p:ph idx="1" type="subTitle"/>
          </p:nvPr>
        </p:nvSpPr>
        <p:spPr>
          <a:xfrm>
            <a:off x="6395088" y="1648450"/>
            <a:ext cx="2444700" cy="256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Started the wipers when  vapor sensor glitched</a:t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Used same pin on microcontroller</a:t>
            </a:r>
            <a:endParaRPr b="0" i="0"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rgbClr val="AB4FF6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Tested each piece of code before </a:t>
            </a: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adding</a:t>
            </a:r>
            <a:r>
              <a:rPr lang="en" sz="135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it</a:t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rgbClr val="FF5F7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0" name="Google Shape;630;p68"/>
          <p:cNvSpPr/>
          <p:nvPr/>
        </p:nvSpPr>
        <p:spPr>
          <a:xfrm>
            <a:off x="5841425" y="2242500"/>
            <a:ext cx="717300" cy="43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1" name="Google Shape;631;p68"/>
          <p:cNvSpPr txBox="1"/>
          <p:nvPr>
            <p:ph idx="1" type="subTitle"/>
          </p:nvPr>
        </p:nvSpPr>
        <p:spPr>
          <a:xfrm>
            <a:off x="344875" y="310450"/>
            <a:ext cx="2363400" cy="10632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lt2"/>
                </a:solidFill>
              </a:rPr>
              <a:t>Requirements</a:t>
            </a:r>
            <a:endParaRPr sz="2635">
              <a:solidFill>
                <a:schemeClr val="lt2"/>
              </a:solidFill>
            </a:endParaRPr>
          </a:p>
        </p:txBody>
      </p:sp>
      <p:sp>
        <p:nvSpPr>
          <p:cNvPr id="632" name="Google Shape;632;p68"/>
          <p:cNvSpPr txBox="1"/>
          <p:nvPr>
            <p:ph idx="1" type="subTitle"/>
          </p:nvPr>
        </p:nvSpPr>
        <p:spPr>
          <a:xfrm>
            <a:off x="3332175" y="310450"/>
            <a:ext cx="2363400" cy="10632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lt2"/>
                </a:solidFill>
              </a:rPr>
              <a:t>Results</a:t>
            </a:r>
            <a:endParaRPr sz="2635">
              <a:solidFill>
                <a:schemeClr val="lt2"/>
              </a:solidFill>
            </a:endParaRPr>
          </a:p>
        </p:txBody>
      </p:sp>
      <p:sp>
        <p:nvSpPr>
          <p:cNvPr id="633" name="Google Shape;633;p68"/>
          <p:cNvSpPr txBox="1"/>
          <p:nvPr>
            <p:ph idx="1" type="subTitle"/>
          </p:nvPr>
        </p:nvSpPr>
        <p:spPr>
          <a:xfrm>
            <a:off x="6358213" y="310450"/>
            <a:ext cx="2363400" cy="10632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lt2"/>
                </a:solidFill>
              </a:rPr>
              <a:t>Evidence</a:t>
            </a:r>
            <a:endParaRPr sz="2635">
              <a:solidFill>
                <a:schemeClr val="lt2"/>
              </a:solidFill>
            </a:endParaRPr>
          </a:p>
        </p:txBody>
      </p:sp>
      <p:sp>
        <p:nvSpPr>
          <p:cNvPr id="634" name="Google Shape;634;p68"/>
          <p:cNvSpPr/>
          <p:nvPr/>
        </p:nvSpPr>
        <p:spPr>
          <a:xfrm>
            <a:off x="2673325" y="2242500"/>
            <a:ext cx="717300" cy="43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9"/>
          <p:cNvSpPr/>
          <p:nvPr/>
        </p:nvSpPr>
        <p:spPr>
          <a:xfrm>
            <a:off x="228600" y="1091925"/>
            <a:ext cx="4145100" cy="31434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0" name="Google Shape;640;p69"/>
          <p:cNvSpPr/>
          <p:nvPr/>
        </p:nvSpPr>
        <p:spPr>
          <a:xfrm>
            <a:off x="4705950" y="1091925"/>
            <a:ext cx="4145100" cy="31434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1" name="Google Shape;641;p69"/>
          <p:cNvSpPr txBox="1"/>
          <p:nvPr>
            <p:ph idx="1" type="subTitle"/>
          </p:nvPr>
        </p:nvSpPr>
        <p:spPr>
          <a:xfrm>
            <a:off x="108450" y="1091925"/>
            <a:ext cx="4385400" cy="10815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lt2"/>
                </a:solidFill>
              </a:rPr>
              <a:t>Successes</a:t>
            </a:r>
            <a:endParaRPr sz="2635">
              <a:solidFill>
                <a:schemeClr val="lt2"/>
              </a:solidFill>
            </a:endParaRPr>
          </a:p>
        </p:txBody>
      </p:sp>
      <p:sp>
        <p:nvSpPr>
          <p:cNvPr id="642" name="Google Shape;642;p69"/>
          <p:cNvSpPr txBox="1"/>
          <p:nvPr>
            <p:ph idx="1" type="subTitle"/>
          </p:nvPr>
        </p:nvSpPr>
        <p:spPr>
          <a:xfrm>
            <a:off x="4585800" y="1091925"/>
            <a:ext cx="4385400" cy="10815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2635">
                <a:solidFill>
                  <a:schemeClr val="lt2"/>
                </a:solidFill>
              </a:rPr>
              <a:t>Challenges</a:t>
            </a:r>
            <a:endParaRPr sz="2635">
              <a:solidFill>
                <a:schemeClr val="lt2"/>
              </a:solidFill>
            </a:endParaRPr>
          </a:p>
        </p:txBody>
      </p:sp>
      <p:sp>
        <p:nvSpPr>
          <p:cNvPr id="643" name="Google Shape;643;p69"/>
          <p:cNvSpPr txBox="1"/>
          <p:nvPr>
            <p:ph idx="4294967295" type="body"/>
          </p:nvPr>
        </p:nvSpPr>
        <p:spPr>
          <a:xfrm>
            <a:off x="5014064" y="2034150"/>
            <a:ext cx="3646800" cy="24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Inaccurate sensor</a:t>
            </a:r>
            <a:endParaRPr sz="175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339725" lvl="0" marL="457200" rtl="0" algn="l">
              <a:spcBef>
                <a:spcPts val="1000"/>
              </a:spcBef>
              <a:spcAft>
                <a:spcPts val="1000"/>
              </a:spcAft>
              <a:buSzPts val="1750"/>
              <a:buChar char="⟶"/>
            </a:pPr>
            <a:r>
              <a:rPr lang="en" sz="1750"/>
              <a:t>Inconsistent vapor detection values </a:t>
            </a:r>
            <a:endParaRPr sz="1750"/>
          </a:p>
        </p:txBody>
      </p:sp>
      <p:sp>
        <p:nvSpPr>
          <p:cNvPr id="644" name="Google Shape;644;p69"/>
          <p:cNvSpPr txBox="1"/>
          <p:nvPr>
            <p:ph idx="4294967295" type="body"/>
          </p:nvPr>
        </p:nvSpPr>
        <p:spPr>
          <a:xfrm>
            <a:off x="477750" y="2173425"/>
            <a:ext cx="3646800" cy="19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⟶"/>
            </a:pPr>
            <a:r>
              <a:rPr lang="en" sz="1750"/>
              <a:t>Reliable headlights</a:t>
            </a:r>
            <a:endParaRPr sz="175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339725" lvl="0" marL="457200" rtl="0" algn="l">
              <a:spcBef>
                <a:spcPts val="1000"/>
              </a:spcBef>
              <a:spcAft>
                <a:spcPts val="1000"/>
              </a:spcAft>
              <a:buSzPts val="1750"/>
              <a:buChar char="⟶"/>
            </a:pPr>
            <a:r>
              <a:rPr lang="en" sz="1750"/>
              <a:t>Circuit / code accuracy</a:t>
            </a:r>
            <a:endParaRPr sz="17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70" title="IMG_357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3225" y="641350"/>
            <a:ext cx="6863650" cy="38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1"/>
          <p:cNvSpPr/>
          <p:nvPr/>
        </p:nvSpPr>
        <p:spPr>
          <a:xfrm>
            <a:off x="1538350" y="1441650"/>
            <a:ext cx="6277500" cy="22602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5" name="Google Shape;655;p71"/>
          <p:cNvSpPr txBox="1"/>
          <p:nvPr>
            <p:ph idx="1" type="subTitle"/>
          </p:nvPr>
        </p:nvSpPr>
        <p:spPr>
          <a:xfrm>
            <a:off x="1827775" y="1801500"/>
            <a:ext cx="5712300" cy="1686900"/>
          </a:xfrm>
          <a:prstGeom prst="rect">
            <a:avLst/>
          </a:prstGeom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0"/>
              <a:buNone/>
            </a:pPr>
            <a:r>
              <a:rPr lang="en" sz="5035"/>
              <a:t>Conclusion</a:t>
            </a:r>
            <a:endParaRPr sz="503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2"/>
          <p:cNvSpPr/>
          <p:nvPr/>
        </p:nvSpPr>
        <p:spPr>
          <a:xfrm>
            <a:off x="421225" y="571500"/>
            <a:ext cx="8271300" cy="40005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250999" rotWithShape="0" algn="bl" dir="5400000" dist="27889">
              <a:schemeClr val="lt2">
                <a:alpha val="65000"/>
              </a:schemeClr>
            </a:outerShdw>
          </a:effectLst>
        </p:spPr>
        <p:txBody>
          <a:bodyPr anchorCtr="0" anchor="ctr" bIns="133850" lIns="133850" spcFirstLastPara="1" rIns="133850" wrap="square" tIns="13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61" name="Google Shape;661;p72"/>
          <p:cNvSpPr/>
          <p:nvPr/>
        </p:nvSpPr>
        <p:spPr>
          <a:xfrm rot="8100000">
            <a:off x="1338755" y="1905654"/>
            <a:ext cx="6464087" cy="6464087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lnTo>
                  <a:pt x="0" y="0"/>
                </a:lnTo>
                <a:lnTo>
                  <a:pt x="120000" y="120000"/>
                </a:lnTo>
                <a:close/>
              </a:path>
            </a:pathLst>
          </a:custGeom>
          <a:gradFill>
            <a:gsLst>
              <a:gs pos="0">
                <a:srgbClr val="AB4FF6"/>
              </a:gs>
              <a:gs pos="72000">
                <a:srgbClr val="000000"/>
              </a:gs>
              <a:gs pos="100000">
                <a:srgbClr val="00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72"/>
          <p:cNvSpPr/>
          <p:nvPr/>
        </p:nvSpPr>
        <p:spPr>
          <a:xfrm rot="-2700000">
            <a:off x="3109571" y="-1459930"/>
            <a:ext cx="2922755" cy="2922755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lnTo>
                  <a:pt x="0" y="0"/>
                </a:lnTo>
                <a:lnTo>
                  <a:pt x="120000" y="120000"/>
                </a:lnTo>
                <a:close/>
              </a:path>
            </a:pathLst>
          </a:custGeom>
          <a:gradFill>
            <a:gsLst>
              <a:gs pos="0">
                <a:srgbClr val="FF5F79"/>
              </a:gs>
              <a:gs pos="72000">
                <a:srgbClr val="000000"/>
              </a:gs>
              <a:gs pos="100000">
                <a:srgbClr val="00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2"/>
          <p:cNvSpPr/>
          <p:nvPr/>
        </p:nvSpPr>
        <p:spPr>
          <a:xfrm>
            <a:off x="571500" y="620900"/>
            <a:ext cx="8001000" cy="3951000"/>
          </a:xfrm>
          <a:prstGeom prst="roundRect">
            <a:avLst>
              <a:gd fmla="val 380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72"/>
          <p:cNvSpPr txBox="1"/>
          <p:nvPr/>
        </p:nvSpPr>
        <p:spPr>
          <a:xfrm>
            <a:off x="-2015400" y="728475"/>
            <a:ext cx="72390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strike="noStrike">
                <a:solidFill>
                  <a:srgbClr val="FF5F79"/>
                </a:solidFill>
                <a:latin typeface="Jost SemiBold"/>
                <a:ea typeface="Jost SemiBold"/>
                <a:cs typeface="Jost SemiBold"/>
                <a:sym typeface="Jost SemiBold"/>
              </a:rPr>
              <a:t>Conclusion</a:t>
            </a:r>
            <a:endParaRPr b="0" i="0" sz="2800" u="none" strike="noStrike">
              <a:solidFill>
                <a:srgbClr val="FF5F79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665" name="Google Shape;665;p72"/>
          <p:cNvSpPr txBox="1"/>
          <p:nvPr/>
        </p:nvSpPr>
        <p:spPr>
          <a:xfrm>
            <a:off x="2043650" y="1510975"/>
            <a:ext cx="7239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5F79"/>
              </a:buClr>
              <a:buSzPts val="1700"/>
              <a:buFont typeface="Jost"/>
              <a:buChar char="●"/>
            </a:pPr>
            <a:r>
              <a:rPr lang="en" sz="17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Created a fully functioning prototype</a:t>
            </a:r>
            <a:endParaRPr sz="17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FF5F79"/>
              </a:buClr>
              <a:buSzPts val="1700"/>
              <a:buFont typeface="Jost"/>
              <a:buChar char="●"/>
            </a:pPr>
            <a:r>
              <a:rPr lang="en" sz="17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Biggest challenge was with vapor sensor</a:t>
            </a:r>
            <a:endParaRPr sz="17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FF5F79"/>
              </a:buClr>
              <a:buSzPts val="1700"/>
              <a:buFont typeface="Jost"/>
              <a:buChar char="●"/>
            </a:pPr>
            <a:r>
              <a:rPr lang="en" sz="17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Learned a lot about the design process</a:t>
            </a:r>
            <a:endParaRPr sz="17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1200"/>
              </a:spcAft>
              <a:buClr>
                <a:srgbClr val="FF5F79"/>
              </a:buClr>
              <a:buSzPts val="1700"/>
              <a:buFont typeface="Jost"/>
              <a:buChar char="●"/>
            </a:pPr>
            <a:r>
              <a:rPr lang="en" sz="17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Eventually created a successful prototype</a:t>
            </a:r>
            <a:endParaRPr b="0" sz="17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3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71" name="Google Shape;671;p73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</a:rPr>
              <a:t>Any questions?</a:t>
            </a:r>
            <a:endParaRPr sz="2200">
              <a:solidFill>
                <a:schemeClr val="lt2"/>
              </a:solidFill>
            </a:endParaRPr>
          </a:p>
        </p:txBody>
      </p:sp>
      <p:pic>
        <p:nvPicPr>
          <p:cNvPr id="672" name="Google Shape;67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3" y="2807838"/>
            <a:ext cx="2464192" cy="172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949" y="3032850"/>
            <a:ext cx="1842990" cy="12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